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d64b1d8764374" /><Relationship Type="http://schemas.openxmlformats.org/officeDocument/2006/relationships/extended-properties" Target="/docProps/app.xml" Id="R1c1e570342584283" /><Relationship Type="http://schemas.openxmlformats.org/officeDocument/2006/relationships/officeDocument" Target="/ppt/presentation.xml" Id="R81896619d15d45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aa4c3de5b40d5"/>
  </p:sldMasterIdLst>
  <p:notesMasterIdLst>
    <p:notesMasterId xmlns:r="http://schemas.openxmlformats.org/officeDocument/2006/relationships" r:id="R98d68c6252fc4d91"/>
  </p:notesMasterIdLst>
  <p:sldIdLst>
    <p:sldId xmlns:r="http://schemas.openxmlformats.org/officeDocument/2006/relationships" id="256" r:id="R9f2daf1197d944b6"/>
    <p:sldId xmlns:r="http://schemas.openxmlformats.org/officeDocument/2006/relationships" id="257" r:id="R1e5b892f180a4e17"/>
    <p:sldId xmlns:r="http://schemas.openxmlformats.org/officeDocument/2006/relationships" id="258" r:id="R06c17f7aea3542e5"/>
    <p:sldId xmlns:r="http://schemas.openxmlformats.org/officeDocument/2006/relationships" id="259" r:id="R93fc9df51eee4b95"/>
    <p:sldId xmlns:r="http://schemas.openxmlformats.org/officeDocument/2006/relationships" id="260" r:id="R29be1c00cf6e4f88"/>
    <p:sldId xmlns:r="http://schemas.openxmlformats.org/officeDocument/2006/relationships" id="261" r:id="Rea16e9bc3f004bba"/>
    <p:sldId xmlns:r="http://schemas.openxmlformats.org/officeDocument/2006/relationships" id="262" r:id="R3521ecbf918d4af2"/>
    <p:sldId xmlns:r="http://schemas.openxmlformats.org/officeDocument/2006/relationships" id="263" r:id="R84e3e35a1e07493d"/>
    <p:sldId xmlns:r="http://schemas.openxmlformats.org/officeDocument/2006/relationships" id="264" r:id="R433cadf615604726"/>
    <p:sldId xmlns:r="http://schemas.openxmlformats.org/officeDocument/2006/relationships" id="265" r:id="R66b3187592d34aa2"/>
    <p:sldId xmlns:r="http://schemas.openxmlformats.org/officeDocument/2006/relationships" id="266" r:id="R0c400c80a1b1468b"/>
    <p:sldId xmlns:r="http://schemas.openxmlformats.org/officeDocument/2006/relationships" id="267" r:id="Rb9d0a141d8104e35"/>
    <p:sldId xmlns:r="http://schemas.openxmlformats.org/officeDocument/2006/relationships" id="268" r:id="Rd2b73bb6c11845bb"/>
    <p:sldId xmlns:r="http://schemas.openxmlformats.org/officeDocument/2006/relationships" id="269" r:id="R9467780bedc34547"/>
    <p:sldId xmlns:r="http://schemas.openxmlformats.org/officeDocument/2006/relationships" id="270" r:id="R141ac776b4bb47d5"/>
    <p:sldId xmlns:r="http://schemas.openxmlformats.org/officeDocument/2006/relationships" id="271" r:id="Rb0bb396251364d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35eb439b364eeb" /><Relationship Type="http://schemas.openxmlformats.org/officeDocument/2006/relationships/slideMaster" Target="/ppt/slideMasters/slideMaster1.xml" Id="R0a3aa4c3de5b40d5" /><Relationship Type="http://schemas.openxmlformats.org/officeDocument/2006/relationships/notesMaster" Target="/ppt/notesMasters/notesMaster1.xml" Id="R98d68c6252fc4d91" /><Relationship Type="http://schemas.openxmlformats.org/officeDocument/2006/relationships/presProps" Target="/ppt/presProps.xml" Id="Re4086ba0007e4f07" /><Relationship Type="http://schemas.openxmlformats.org/officeDocument/2006/relationships/tableStyles" Target="/ppt/tableStyles.xml" Id="Rf322eb1827194d80" /><Relationship Type="http://schemas.openxmlformats.org/officeDocument/2006/relationships/slide" Target="/ppt/slides/slide1.xml" Id="R9f2daf1197d944b6" /><Relationship Type="http://schemas.openxmlformats.org/officeDocument/2006/relationships/slide" Target="/ppt/slides/slide2.xml" Id="R1e5b892f180a4e17" /><Relationship Type="http://schemas.openxmlformats.org/officeDocument/2006/relationships/slide" Target="/ppt/slides/slide3.xml" Id="R06c17f7aea3542e5" /><Relationship Type="http://schemas.openxmlformats.org/officeDocument/2006/relationships/slide" Target="/ppt/slides/slide4.xml" Id="R93fc9df51eee4b95" /><Relationship Type="http://schemas.openxmlformats.org/officeDocument/2006/relationships/slide" Target="/ppt/slides/slide5.xml" Id="R29be1c00cf6e4f88" /><Relationship Type="http://schemas.openxmlformats.org/officeDocument/2006/relationships/slide" Target="/ppt/slides/slide6.xml" Id="Rea16e9bc3f004bba" /><Relationship Type="http://schemas.openxmlformats.org/officeDocument/2006/relationships/slide" Target="/ppt/slides/slide7.xml" Id="R3521ecbf918d4af2" /><Relationship Type="http://schemas.openxmlformats.org/officeDocument/2006/relationships/slide" Target="/ppt/slides/slide8.xml" Id="R84e3e35a1e07493d" /><Relationship Type="http://schemas.openxmlformats.org/officeDocument/2006/relationships/slide" Target="/ppt/slides/slide9.xml" Id="R433cadf615604726" /><Relationship Type="http://schemas.openxmlformats.org/officeDocument/2006/relationships/slide" Target="/ppt/slides/slide10.xml" Id="R66b3187592d34aa2" /><Relationship Type="http://schemas.openxmlformats.org/officeDocument/2006/relationships/slide" Target="/ppt/slides/slide11.xml" Id="R0c400c80a1b1468b" /><Relationship Type="http://schemas.openxmlformats.org/officeDocument/2006/relationships/slide" Target="/ppt/slides/slide12.xml" Id="Rb9d0a141d8104e35" /><Relationship Type="http://schemas.openxmlformats.org/officeDocument/2006/relationships/slide" Target="/ppt/slides/slide13.xml" Id="Rd2b73bb6c11845bb" /><Relationship Type="http://schemas.openxmlformats.org/officeDocument/2006/relationships/slide" Target="/ppt/slides/slide14.xml" Id="R9467780bedc34547" /><Relationship Type="http://schemas.openxmlformats.org/officeDocument/2006/relationships/slide" Target="/ppt/slides/slide15.xml" Id="R141ac776b4bb47d5" /><Relationship Type="http://schemas.openxmlformats.org/officeDocument/2006/relationships/slide" Target="/ppt/slides/slide16.xml" Id="Rb0bb396251364d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56f33cdf2441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3fad8758534218" /><Relationship Type="http://schemas.openxmlformats.org/officeDocument/2006/relationships/notesMaster" Target="/ppt/notesMasters/notesMaster1.xml" Id="Rcadbea13b9834c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7084e056084d2b" /><Relationship Type="http://schemas.openxmlformats.org/officeDocument/2006/relationships/notesMaster" Target="/ppt/notesMasters/notesMaster1.xml" Id="R16d324d4826d41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2ee053ad54e76" /><Relationship Type="http://schemas.openxmlformats.org/officeDocument/2006/relationships/notesMaster" Target="/ppt/notesMasters/notesMaster1.xml" Id="R2048ae7bc8f341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6b1352fb084a91" /><Relationship Type="http://schemas.openxmlformats.org/officeDocument/2006/relationships/notesMaster" Target="/ppt/notesMasters/notesMaster1.xml" Id="Rc4c69194c70a49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42f7e175ae467f" /><Relationship Type="http://schemas.openxmlformats.org/officeDocument/2006/relationships/notesMaster" Target="/ppt/notesMasters/notesMaster1.xml" Id="Re991675dff4b4f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7c49e2418b4b29" /><Relationship Type="http://schemas.openxmlformats.org/officeDocument/2006/relationships/notesMaster" Target="/ppt/notesMasters/notesMaster1.xml" Id="Rafacb2185d4548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c7e2ef402748b3" /><Relationship Type="http://schemas.openxmlformats.org/officeDocument/2006/relationships/notesMaster" Target="/ppt/notesMasters/notesMaster1.xml" Id="R4c3ac7e71a0c41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9d6e60b3864866" /><Relationship Type="http://schemas.openxmlformats.org/officeDocument/2006/relationships/notesMaster" Target="/ppt/notesMasters/notesMaster1.xml" Id="R8ef6550a50254b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f96b6f4063445a" /><Relationship Type="http://schemas.openxmlformats.org/officeDocument/2006/relationships/notesMaster" Target="/ppt/notesMasters/notesMaster1.xml" Id="R60193a0b45d846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51ad30f1064666" /><Relationship Type="http://schemas.openxmlformats.org/officeDocument/2006/relationships/notesMaster" Target="/ppt/notesMasters/notesMaster1.xml" Id="Ra3e39282963948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c47755cd9a4709" /><Relationship Type="http://schemas.openxmlformats.org/officeDocument/2006/relationships/notesMaster" Target="/ppt/notesMasters/notesMaster1.xml" Id="Race4457b364d4f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42b060e1d14911" /><Relationship Type="http://schemas.openxmlformats.org/officeDocument/2006/relationships/notesMaster" Target="/ppt/notesMasters/notesMaster1.xml" Id="R9888fe814c0f4a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1ec38bcddc4bce" /><Relationship Type="http://schemas.openxmlformats.org/officeDocument/2006/relationships/notesMaster" Target="/ppt/notesMasters/notesMaster1.xml" Id="R962cadb0247041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531086f0104b6d" /><Relationship Type="http://schemas.openxmlformats.org/officeDocument/2006/relationships/notesMaster" Target="/ppt/notesMasters/notesMaster1.xml" Id="R355c294b7efe49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90aaa2a71c4d95" /><Relationship Type="http://schemas.openxmlformats.org/officeDocument/2006/relationships/notesMaster" Target="/ppt/notesMasters/notesMaster1.xml" Id="Rd6c3e59784db4a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d042e1031144af" /><Relationship Type="http://schemas.openxmlformats.org/officeDocument/2006/relationships/notesMaster" Target="/ppt/notesMasters/notesMaster1.xml" Id="R9b688fbed48047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>363/363 локальных Node-теста, прогон 12.09.2026. Живая база, нагрузка и реальный сквозной процесс не проверены.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>Первичные источники: https://www.anthropic.com/engineering/building-effective-agents ; https://docs.temporal.io/workflow-execution ; https://www.nist.gov/itl/ai-risk-management-framework . Проверены 12.09.2026. Источники обосновывают принципы, а не готовность ProjectX.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>Первичные источники: https://www.anthropic.com/engineering/building-effective-agents ; https://docs.temporal.io/workflow-execution ; https://www.nist.gov/itl/ai-risk-management-framework . Проверены 12.09.2026. Источники обосновывают принципы, а не готовность ProjectX.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>Первичные источники: https://www.anthropic.com/engineering/building-effective-agents ; https://docs.temporal.io/workflow-execution ; https://www.nist.gov/itl/ai-risk-management-framework . Проверены 12.09.2026. Источники обосновывают принципы, а не готовность ProjectX.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>Ориентиры календаря предполагают назначение владельца, доступные данные и выделенную команду. Это не обязательство завершить автоматизацию за 12 месяцев.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>Первичные источники: https://www.anthropic.com/engineering/building-effective-agents ; https://docs.temporal.io/workflow-execution ; https://www.nist.gov/itl/ai-risk-management-framework . Проверены 12.09.2026. Источники обосновывают принципы, а не готовность ProjectX.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>Первичные источники: https://www.anthropic.com/engineering/building-effective-agents ; https://docs.temporal.io/workflow-execution ; https://www.nist.gov/itl/ai-risk-management-framework . Проверены 12.09.2026. Источники обосновывают принципы, а не готовность ProjectX.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поручение пользователя от 12.09.2026; docs/governance/ROADMAP.md; docs/process/AI_WORKFORCE_GUIDE.md; docs/research/COMPANY_CORE_AUDIT_2026-09-12.md. Все целевые роли, сроки и критерии являются предложением.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9e90530b541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46322fe2540f5" /><Relationship Type="http://schemas.openxmlformats.org/officeDocument/2006/relationships/slideLayout" Target="/ppt/slideLayouts/slideLayout1.xml" Id="R551690ff9ff447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690ff9ff447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eb1d92ee94600" /><Relationship Type="http://schemas.openxmlformats.org/officeDocument/2006/relationships/notesSlide" Target="/ppt/notesSlides/notesSlide1.xml" Id="Rf0aafa9a108e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1694a32b341e5" /><Relationship Type="http://schemas.openxmlformats.org/officeDocument/2006/relationships/notesSlide" Target="/ppt/notesSlides/notesSlide2.xml" Id="R2282b62658cd4d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71d226b64771" /><Relationship Type="http://schemas.openxmlformats.org/officeDocument/2006/relationships/notesSlide" Target="/ppt/notesSlides/notesSlide3.xml" Id="R717207f19f2e44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d3f4551c14425" /><Relationship Type="http://schemas.openxmlformats.org/officeDocument/2006/relationships/notesSlide" Target="/ppt/notesSlides/notesSlide4.xml" Id="R5c19d36c2bda4e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5947df2044843" /><Relationship Type="http://schemas.openxmlformats.org/officeDocument/2006/relationships/notesSlide" Target="/ppt/notesSlides/notesSlide5.xml" Id="R089f9b3bbcdc45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3a891e9b449c8" /><Relationship Type="http://schemas.openxmlformats.org/officeDocument/2006/relationships/notesSlide" Target="/ppt/notesSlides/notesSlide6.xml" Id="R2f83d731ee26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a3a4b531b4cf3" /><Relationship Type="http://schemas.openxmlformats.org/officeDocument/2006/relationships/notesSlide" Target="/ppt/notesSlides/notesSlide7.xml" Id="R6c1d626d8f8b40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e5dfa558b4306" /><Relationship Type="http://schemas.openxmlformats.org/officeDocument/2006/relationships/notesSlide" Target="/ppt/notesSlides/notesSlide8.xml" Id="Ra3aa03a673c442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598d805744ea2" /><Relationship Type="http://schemas.openxmlformats.org/officeDocument/2006/relationships/notesSlide" Target="/ppt/notesSlides/notesSlide9.xml" Id="Rdccb9e5aa34340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0225f95c44c81" /><Relationship Type="http://schemas.openxmlformats.org/officeDocument/2006/relationships/notesSlide" Target="/ppt/notesSlides/notesSlide10.xml" Id="R71d332c4747b4b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3889a8ad54c22" /><Relationship Type="http://schemas.openxmlformats.org/officeDocument/2006/relationships/notesSlide" Target="/ppt/notesSlides/notesSlide11.xml" Id="R82f02f28689043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925d882c40b7" /><Relationship Type="http://schemas.openxmlformats.org/officeDocument/2006/relationships/notesSlide" Target="/ppt/notesSlides/notesSlide12.xml" Id="R6b746df2dca74f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73fe3217643fb" /><Relationship Type="http://schemas.openxmlformats.org/officeDocument/2006/relationships/notesSlide" Target="/ppt/notesSlides/notesSlide13.xml" Id="R9973043cc22847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acd90abdf491a" /><Relationship Type="http://schemas.openxmlformats.org/officeDocument/2006/relationships/notesSlide" Target="/ppt/notesSlides/notesSlide14.xml" Id="R779460553e6640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d1d6b114845a2" /><Relationship Type="http://schemas.openxmlformats.org/officeDocument/2006/relationships/notesSlide" Target="/ppt/notesSlides/notesSlide15.xml" Id="Re3cedebd74ea4c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8ded1140e41f1" /><Relationship Type="http://schemas.openxmlformats.org/officeDocument/2006/relationships/notesSlide" Target="/ppt/notesSlides/notesSlide16.xml" Id="R7d0ec5a9dd7d4f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E4461-33E8-4B15-A07A-0EA74383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ProjectX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36C0D-ACC0-43E0-A98B-91002EE2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Ядро автоматизированной компании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58E7C-638B-4BD7-85B9-9A7332E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Начинаем с трейдинга и фрахта. Подключаем источники и передаём сквозную работу AI-агентам.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5715C-B091-4BDC-A51D-7AFBC88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Цель владельца проекта: полная автоматизация процессов и замещение человеческого труда.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8086E-D3AC-4743-99F0-E8272D1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Предложение для владельца компании. 12 сентября 2026 года. Сроки, инвестиции и полномочия требуют решения.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481B2-9694-49BD-8EA2-68E84F88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6465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C18D3-3B3D-48DA-943C-81616663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01 / Исходная позиция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B1CF0-CDF6-4327-8C80-192AC3BB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Сегодня работает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C753B-0537-40AB-BE16-769A5DC7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Продажи, справочники, многопартийный рейс, бюджет и нетбэк. FORWARD сравнивает направления на введённых оценках и допущениях.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9C9C8-52B4-4535-99E4-E81CA6C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Общий режим имеет вход и хранение. Он ещё требует проверки реальной базы, конкурирующих пользователей и восстановления.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36EFD-D317-4905-9A84-59AB61B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363 локальных теста проходят. Это проверка заданных сценариев, а не доказательство готовности компании к автономной работе.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7FFA8-9656-42FA-90B4-31921347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5927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A4E7-4845-48E5-8633-2F9F287C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02 / Аудит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C13F5-1E8B-4FE3-9684-92AC54F2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Главный разрыв: исполнение 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F7679-0A49-4C51-A6F4-450719C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Есть расчётное ядро. Нет подтверждённого сквозного исполнения: заявки, обязательства, события рейса, счета, закрытие.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52C1-9BB3-4409-BD7F-27640607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Ошибки очереди сохранения и неполные снимки требуют исправления до подключения агентов с правом записи.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FFCD1-8343-4208-BD09-FCB70BAC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Вывод: фундамент сохраняем. Первый этап инвестиций направляем в целостность данных и управляемое исполнение.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279B2-AB56-4DB9-B29B-01C8AE7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3799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F7065-ED75-456E-A3B1-06BBA2E2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03 / Бизнес-процесс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A61D7-B57F-4C5F-9544-22F54D47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Первый сквозной контур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50EEF-E381-4FE9-AE45-9B778D8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Запрос клиента и доступный продукт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Предложение, экономика и условия сделки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Состав рейса и фрахтование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964D4-A761-4507-AE96-1297068E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Исполнение и изменения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Документы, счета и сверка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Расчёт фактического результата и закрытие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15E66-AB74-4B05-8D01-2889714D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У каждого перехода есть вход, результат, ответственный и условие завершения. Изменение факта запускает пересмотр зависимых решений.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DE119-A177-4138-8BE1-49BA896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9786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0F6BF-49DD-4CCC-9590-23DB68F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04 /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931D1-C4B2-4D81-B3B1-D9E7C0DB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ProjectX управляет работой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F70DF-D237-4194-A0F6-0F459770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Единая модель сделки и рейса связывает версии данных, расчёты, задачи и результаты действий. Денежные формулы исполняет проверенный код.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BB03F-F126-4359-A4A4-4B72DC4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Агенты работают через ограниченные инструменты. Движок процесса хранит задачи и продолжает работу после сбоя. Учётные системы сохраняют свои функции.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540E6-29C9-4E1A-921F-58870FC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Источник факта, версия правила и совершённое действие должны быть прослеживаемы. Выбор технологий предстоит проверить на пилоте.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DD86B-9A1A-4252-8858-FDD3036E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0708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240B3-2A26-45EC-86A5-9D7433E9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05 / 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1262-FEF7-44F3-A55A-60FCE0F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Интеграции подключаем по ценности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45CDE-1FC8-44E8-8C1C-7506CB90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Сначала корпоративные продажи, доступные объёмы и документы. Затем маршруты, ставки, цены топлива и рыночные оценки.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56C8F-9F11-45CC-854D-C5601108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Далее события исполнения, счета и учёт. Каждому источнику назначаем владельца, правила качества, обновления и обработки сбоев.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64E4F-96C5-487A-85D3-23E38B0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Почта и документы дают сведения. Инструкции внутри них не предоставляют агенту полномочий.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64EB7-C030-40B1-A360-60B8CE68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585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13950-3FC6-4028-A55D-003E2636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06 / AI-работники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5AE41-A762-499C-8D03-AA678F9D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Первые роли агентов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C27A7-49EA-4B9F-92E0-B5626092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Документалист извлекает поля со ссылками.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Аналитик следит за источниками и изменениями.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Планировщик считает допустимые варианты рейса.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443D6-9663-432D-BFC0-3897BED8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Операционный агент контролирует события.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Агент сверки сопоставляет счета и бюджет.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Координатор распределяет задачи и исключения.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556A7-572F-4A86-ADB3-A3CC74AC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Это проект ролей. Сейчас такие работники в ProjectX не реализованы. Права выдаются на конкретные действия.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1DF24-4D13-467F-A525-D9BABDB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243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46423-CBA3-416B-B768-631EAE1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07 / Автономия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34444-CAB7-4F9A-9FA2-EC84F370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Полномочия растут по результатам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AABFD-49B3-4984-97D4-55BAD041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Уровень 0: агент наблюдает.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Уровень 1: готовит результат для проверки.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Уровень 2: действует после подтверждения.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70C53-E305-45B7-8F88-87EFE2D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Уровень 3: исполняет типовые задачи в лимитах.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Уровень 4: координирует процессы в рамках политики владельца.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C7D4E-568A-4A4D-999A-41AF504D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Переход определяется доказанным качеством и восстановлением после ошибок. Агент не расширяет собственные права.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3D9A2-6311-41FC-B110-DA19EED3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4364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1272C-792F-468E-AB34-26408B1E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08 / Первый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DCBB0-550A-477F-8B80-C61F78C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Один процесс проходит до конца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132F9-3C30-4986-BE61-16E3B18D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Один продукт и направление, ограниченный набор сделок. Агент разбирает заявку и собирает пакет расчёта. Система проверяет обязательные входы.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A5A17-A7E9-4268-B992-74691E4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Специалист подтверждает условия. После исполнения агент собирает документы и сверяет план с фактом. Исключения остаются видимыми.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D45AB-7F8C-44AA-AFED-A3F6013B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Начинаем с исторического рейса, затем работаем параллельно с действующим процессом. Полноту пилота определяем до запуска.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7B7FD-A791-4E85-AAD9-B28E85EB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1686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FC2C5-84B7-45DE-AB07-9B8FB798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09 /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FF892-0E7A-4E9A-9BDD-B2E335AF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Развёртывание по этапам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626DA-A7F1-4F36-BB6B-70108059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0–30 дней: аудит данных и надёжный общий контур.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31–90 дней: сквозной пилот и агенты в режиме подготовки.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596C9-EDE9-4AC8-8474-9D55E10A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3–6 месяцев: ограниченная автономия в трейдинге и фрахте.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6–12 месяцев: смежные функции.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12+ месяцев: координация компании агентами.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91BC2-8530-43A3-A2A8-703C782E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Плановые ориентиры от старта финансируемой программы, не обещанные сроки. Следующий этап начинается после приёмки предыдущего.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F7393-C188-4946-B43F-2CC84E82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56765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17627-9774-4C0B-A890-6F510BE0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10 / Первые 90 дней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7B336-8B46-4F61-A684-D8790B84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Результат первого этапа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69054-6E9D-4469-8814-FFB6D268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Дни 1–30: исправления сохранения, резервное восстановление, владельцы данных и эталон рейса.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Дни 31–60: задачи процесса, история действий, первый источник.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2C502-02FE-44D1-8E64-58385F66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Дни 61–90: агент документов и агент планирования, проверка исключений, сравнение с ручной работой, решение о расширении.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06905-8A8D-4F71-ADA4-E9ADACF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Команда нужна по компетенциям: владелец процесса, фрахт и трейдинг, разработка, данные и интеграции, проверка качества. Численность и бюджет пока неизвестны.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BFCFB-B16D-4AF2-A85E-E4D05337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1589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55ECF-C6DF-448E-BC8D-F55C3F06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11 / Приёмка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F3E6A-124D-4F69-8DD8-0E62D7D6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Автономия требует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DECBD-956C-4D87-8029-03D0D937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Каждый результат связан с источником. Повтор запроса не создаёт повторного обязательства. После сбоя работа восстанавливается.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EA283-6482-448B-B668-B14A0F39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Набор проверок включает ошибки документов, устаревшие цены, конфликт прав и недоступность источника. Запрещённые действия не проходят.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36E47-4AF1-477E-AF99-4192C619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Предлагаемые критерии: ноль неразрешённых действий, проверенное восстановление, качество не ниже согласованного эталона. Объём выборки и допуски утверждаем до испытания.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73F1A-580F-4FEF-80BF-2B62D913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9899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03001-D578-4900-93B8-72ADF4D4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12 / Экономика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50629-FE1E-4FE3-89B1-910FDC47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Замещение труда измеряем по функциям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28CF4-B70E-4383-A354-B213976C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Замеряем часы на операцию, частоту, долю исключений и цену ошибки. После пилота вычитаем время контроля и исправлений.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F272B-2986-4081-8046-BE73A2DD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Эффект складывается из фактического сокращения затрат и подтверждённого дополнительного результата. Вычитаем данные, модели, инфраструктуру и сопровождение.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2A218-936A-41F6-8F0E-0465A9C1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Высвобождённые часы показывают потенциал изменения штата. Они не равны денежной экономии, пока компания не изменила реальные расходы.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8B2B1-4EA5-4676-9E27-084A9B5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45242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32285-4FFA-4D63-80F3-533639A9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13 / Расширение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38638-A687-4DBC-AFEA-1B55F99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Следующие функции компании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41A5B-A4EC-4F84-BBBF-6EA9824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Финансы: сверка, прогноз денег и подготовка платежей.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Закупки: заявки, предложения и исполнение.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Продажи: предложения и обслуживание клиентов.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7015F-74D1-4562-B53A-8CD0C26B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Производство: планирование и обмен с учётными системами.</a:t>
            </a:r>
          </a:p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Управление: приоритеты, распределение ресурсов и контроль исполнения.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28AF8-3447-4F2F-98EB-6C719E1A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Каждая функция проходит собственную приёмку. Управление физическим оборудованием требует отдельной программы инженерной проверки.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90E5B-3A26-4B62-8201-123091E6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909272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421B2-B39A-4ECE-9300-C47FD337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14 / Управление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0CB54-66D8-4896-ADD7-2918AE92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Владелец задаёт цели и пределы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48FE4-1540-4BA2-84CE-407C80D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Координатор агентов предлагает решения, распределяет задачи и контролирует показатели. Реестр полномочий определяет допустимые действия.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8BC51-FD2F-4F15-B768-D47879C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Владелец компании определяет бюджеты, риск и внешние полномочия. Сегодня состав рейса и бюджет утверждает руководитель фрахта.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31972-D2BC-4D96-8543-48EAE3E2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Новая цель не отменяет действующие назначения автоматически. Передача управленческих функций требует отдельного решения и подтверждённой работоспособности.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BF842-7D22-4860-93F1-4280486E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746057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03207-5367-4C76-91CC-13CD0AF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C6F3A"/>
                </a:solidFill>
                <a:latin typeface="Helvetica Neue"/>
                <a:ea typeface="Helvetica Neue"/>
                <a:cs typeface="Helvetica Neue"/>
              </a:rPr>
              <a:t>15 / Решение владельца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39838-EDE2-41D8-A405-3B05265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Мандат на первый этап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DCF8-1542-4C41-8F0F-5BAC228F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Предлагается согласовать пилот трейдинга и фрахта, владельца программы, доступные данные и бюджет подготовки.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5BBE9-85FC-4FF3-BC46-CC32C61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9587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ECECEC"/>
                </a:solidFill>
                <a:latin typeface="Helvetica Neue"/>
                <a:ea typeface="Helvetica Neue"/>
                <a:cs typeface="Helvetica Neue"/>
              </a:rPr>
              <a:t>Следующий инвестиционный рубеж: рабочий сквозной процесс, измеренная экономия труда и подтверждённое качество агентов.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48DC2-5407-43D5-862C-8C6C57C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0A0A0"/>
                </a:solidFill>
                <a:latin typeface="Helvetica Neue"/>
                <a:ea typeface="Helvetica Neue"/>
                <a:cs typeface="Helvetica Neue"/>
              </a:rPr>
              <a:t>Целевой результат: компания исполняет всё большую долю работы автоматически. Полную замену людей проверяем по функциям, а не обещаем заранее.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5AE63-5B7D-4E46-BCA0-A2888BBB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4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0808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3239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2026-09-12T15:19:21.1980000Z</dcterms:created>
  <dcterms:modified xsi:type="dcterms:W3CDTF">2026-09-12T15:19:21.1980000Z</dcterms:modified>
</coreProperties>
</file>